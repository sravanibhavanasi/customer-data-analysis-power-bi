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77" r:id="rId12"/>
    <p:sldId id="266" r:id="rId13"/>
    <p:sldId id="274" r:id="rId14"/>
    <p:sldId id="273" r:id="rId15"/>
    <p:sldId id="278" r:id="rId16"/>
    <p:sldId id="268" r:id="rId17"/>
    <p:sldId id="269" r:id="rId18"/>
    <p:sldId id="270" r:id="rId19"/>
    <p:sldId id="276"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5F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p:scale>
          <a:sx n="50" d="100"/>
          <a:sy n="50" d="100"/>
        </p:scale>
        <p:origin x="1284"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day Reddy" userId="51f13a9e17214421" providerId="LiveId" clId="{35AEE61B-4A21-4486-AD65-16C6562B352C}"/>
    <pc:docChg chg="undo custSel addSld delSld modSld">
      <pc:chgData name="Uday Reddy" userId="51f13a9e17214421" providerId="LiveId" clId="{35AEE61B-4A21-4486-AD65-16C6562B352C}" dt="2025-11-06T10:10:59.576" v="23" actId="20577"/>
      <pc:docMkLst>
        <pc:docMk/>
      </pc:docMkLst>
      <pc:sldChg chg="modSp mod">
        <pc:chgData name="Uday Reddy" userId="51f13a9e17214421" providerId="LiveId" clId="{35AEE61B-4A21-4486-AD65-16C6562B352C}" dt="2025-11-06T10:10:59.576" v="23" actId="20577"/>
        <pc:sldMkLst>
          <pc:docMk/>
          <pc:sldMk cId="2870572506" sldId="271"/>
        </pc:sldMkLst>
        <pc:spChg chg="mod">
          <ac:chgData name="Uday Reddy" userId="51f13a9e17214421" providerId="LiveId" clId="{35AEE61B-4A21-4486-AD65-16C6562B352C}" dt="2025-11-06T10:10:59.576" v="23" actId="20577"/>
          <ac:spMkLst>
            <pc:docMk/>
            <pc:sldMk cId="2870572506" sldId="271"/>
            <ac:spMk id="3" creationId="{84C45129-6D16-0FA4-139C-AEA8FD733067}"/>
          </ac:spMkLst>
        </pc:spChg>
      </pc:sldChg>
      <pc:sldChg chg="modSp new del mod">
        <pc:chgData name="Uday Reddy" userId="51f13a9e17214421" providerId="LiveId" clId="{35AEE61B-4A21-4486-AD65-16C6562B352C}" dt="2025-11-06T10:10:59.335" v="22" actId="680"/>
        <pc:sldMkLst>
          <pc:docMk/>
          <pc:sldMk cId="2395918379" sldId="277"/>
        </pc:sldMkLst>
        <pc:spChg chg="mod">
          <ac:chgData name="Uday Reddy" userId="51f13a9e17214421" providerId="LiveId" clId="{35AEE61B-4A21-4486-AD65-16C6562B352C}" dt="2025-11-06T10:10:59.062" v="21" actId="20577"/>
          <ac:spMkLst>
            <pc:docMk/>
            <pc:sldMk cId="2395918379" sldId="277"/>
            <ac:spMk id="2" creationId="{65131C75-FDBA-1D86-292C-C912531856EC}"/>
          </ac:spMkLst>
        </pc:spChg>
        <pc:spChg chg="mod">
          <ac:chgData name="Uday Reddy" userId="51f13a9e17214421" providerId="LiveId" clId="{35AEE61B-4A21-4486-AD65-16C6562B352C}" dt="2025-11-06T10:10:56.021" v="16" actId="688"/>
          <ac:spMkLst>
            <pc:docMk/>
            <pc:sldMk cId="2395918379" sldId="277"/>
            <ac:spMk id="3" creationId="{7989271A-37FE-3EBC-461C-448D26D9D117}"/>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418427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889377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864904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DE57FD-0C63-4210-AA9E-0D0B992FD51A}"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1484131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DE57FD-0C63-4210-AA9E-0D0B992FD51A}" type="datetimeFigureOut">
              <a:rPr lang="en-IN" smtClean="0"/>
              <a:t>10-11-2025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96092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DE57FD-0C63-4210-AA9E-0D0B992FD51A}" type="datetimeFigureOut">
              <a:rPr lang="en-IN" smtClean="0"/>
              <a:t>10-11-2025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93341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DE57FD-0C63-4210-AA9E-0D0B992FD51A}" type="datetimeFigureOut">
              <a:rPr lang="en-IN" smtClean="0"/>
              <a:t>10-11-2025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638194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938094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3379536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56018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569577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1623884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66469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DE57FD-0C63-4210-AA9E-0D0B992FD51A}" type="datetimeFigureOut">
              <a:rPr lang="en-IN" smtClean="0"/>
              <a:t>10-11-2025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3215596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DE57FD-0C63-4210-AA9E-0D0B992FD51A}" type="datetimeFigureOut">
              <a:rPr lang="en-IN" smtClean="0"/>
              <a:t>10-11-2025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64422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577653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BDE57FD-0C63-4210-AA9E-0D0B992FD51A}"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768377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DE57FD-0C63-4210-AA9E-0D0B992FD51A}" type="datetimeFigureOut">
              <a:rPr lang="en-IN" smtClean="0"/>
              <a:t>10-11-2025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1F2FEBF-484F-4956-8DBB-CF05B34F7442}" type="slidenum">
              <a:rPr lang="en-IN" smtClean="0"/>
              <a:t>‹#›</a:t>
            </a:fld>
            <a:endParaRPr lang="en-IN"/>
          </a:p>
        </p:txBody>
      </p:sp>
    </p:spTree>
    <p:extLst>
      <p:ext uri="{BB962C8B-B14F-4D97-AF65-F5344CB8AC3E}">
        <p14:creationId xmlns:p14="http://schemas.microsoft.com/office/powerpoint/2010/main" val="4077961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A8C73F-E576-33A1-6F83-5A594A507203}"/>
              </a:ext>
            </a:extLst>
          </p:cNvPr>
          <p:cNvSpPr/>
          <p:nvPr/>
        </p:nvSpPr>
        <p:spPr>
          <a:xfrm>
            <a:off x="-33810" y="-1"/>
            <a:ext cx="12225810" cy="6858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26FA14F1-7D92-E9BB-A4C1-CF2920606739}"/>
              </a:ext>
            </a:extLst>
          </p:cNvPr>
          <p:cNvSpPr>
            <a:spLocks noGrp="1"/>
          </p:cNvSpPr>
          <p:nvPr>
            <p:ph type="ctrTitle"/>
          </p:nvPr>
        </p:nvSpPr>
        <p:spPr>
          <a:xfrm>
            <a:off x="1683171" y="751351"/>
            <a:ext cx="8825658" cy="2677648"/>
          </a:xfrm>
        </p:spPr>
        <p:txBody>
          <a:bodyPr/>
          <a:lstStyle/>
          <a:p>
            <a:r>
              <a:rPr lang="en-IN" b="1" dirty="0">
                <a:solidFill>
                  <a:schemeClr val="accent1"/>
                </a:solidFill>
              </a:rPr>
              <a:t>DATAMITES - INTERNSHIP</a:t>
            </a:r>
          </a:p>
        </p:txBody>
      </p:sp>
      <p:sp>
        <p:nvSpPr>
          <p:cNvPr id="3" name="Subtitle 2">
            <a:extLst>
              <a:ext uri="{FF2B5EF4-FFF2-40B4-BE49-F238E27FC236}">
                <a16:creationId xmlns:a16="http://schemas.microsoft.com/office/drawing/2014/main" id="{B667F4F0-4146-7F0D-6995-D8E0E832A12E}"/>
              </a:ext>
            </a:extLst>
          </p:cNvPr>
          <p:cNvSpPr>
            <a:spLocks noGrp="1"/>
          </p:cNvSpPr>
          <p:nvPr>
            <p:ph type="subTitle" idx="1"/>
          </p:nvPr>
        </p:nvSpPr>
        <p:spPr>
          <a:xfrm>
            <a:off x="1037470" y="3713557"/>
            <a:ext cx="10083250" cy="2393091"/>
          </a:xfrm>
        </p:spPr>
        <p:txBody>
          <a:bodyPr>
            <a:normAutofit/>
          </a:bodyPr>
          <a:lstStyle/>
          <a:p>
            <a:pPr algn="ctr"/>
            <a:r>
              <a:rPr lang="en-IN" dirty="0">
                <a:solidFill>
                  <a:schemeClr val="accent1">
                    <a:lumMod val="50000"/>
                  </a:schemeClr>
                </a:solidFill>
              </a:rPr>
              <a:t>PROJECT ID:   PRDA-05  </a:t>
            </a:r>
            <a:r>
              <a:rPr lang="en-IN" b="1" dirty="0">
                <a:solidFill>
                  <a:schemeClr val="accent1">
                    <a:lumMod val="50000"/>
                  </a:schemeClr>
                </a:solidFill>
              </a:rPr>
              <a:t>CUSTOMER DATA ANALYSIS</a:t>
            </a:r>
          </a:p>
          <a:p>
            <a:pPr algn="ctr"/>
            <a:r>
              <a:rPr lang="en-IN" dirty="0">
                <a:solidFill>
                  <a:schemeClr val="accent1">
                    <a:lumMod val="50000"/>
                  </a:schemeClr>
                </a:solidFill>
              </a:rPr>
              <a:t>PROJECT TEAM ID :    </a:t>
            </a:r>
            <a:r>
              <a:rPr lang="en-IN" b="1" i="0" dirty="0">
                <a:solidFill>
                  <a:srgbClr val="222222"/>
                </a:solidFill>
                <a:effectLst/>
                <a:latin typeface="Arial" panose="020B0604020202020204" pitchFamily="34" charset="0"/>
              </a:rPr>
              <a:t>PTID-CDA-OCT-25-814 </a:t>
            </a:r>
            <a:r>
              <a:rPr lang="en-IN" b="0" i="0" dirty="0">
                <a:solidFill>
                  <a:srgbClr val="222222"/>
                </a:solidFill>
                <a:effectLst/>
                <a:latin typeface="Arial" panose="020B0604020202020204" pitchFamily="34" charset="0"/>
              </a:rPr>
              <a:t> </a:t>
            </a:r>
            <a:endParaRPr lang="en-IN" b="1" dirty="0">
              <a:solidFill>
                <a:schemeClr val="accent1">
                  <a:lumMod val="50000"/>
                </a:schemeClr>
              </a:solidFill>
            </a:endParaRPr>
          </a:p>
          <a:p>
            <a:pPr algn="ctr"/>
            <a:r>
              <a:rPr lang="en-IN" dirty="0">
                <a:solidFill>
                  <a:schemeClr val="accent1">
                    <a:lumMod val="50000"/>
                  </a:schemeClr>
                </a:solidFill>
              </a:rPr>
              <a:t>Project By : </a:t>
            </a:r>
            <a:r>
              <a:rPr lang="en-IN" b="1" dirty="0">
                <a:solidFill>
                  <a:schemeClr val="accent1">
                    <a:lumMod val="50000"/>
                  </a:schemeClr>
                </a:solidFill>
              </a:rPr>
              <a:t>SRAVANI BHAVANASI</a:t>
            </a:r>
          </a:p>
          <a:p>
            <a:endParaRPr lang="en-IN" dirty="0"/>
          </a:p>
        </p:txBody>
      </p:sp>
      <p:pic>
        <p:nvPicPr>
          <p:cNvPr id="8" name="Picture 7">
            <a:extLst>
              <a:ext uri="{FF2B5EF4-FFF2-40B4-BE49-F238E27FC236}">
                <a16:creationId xmlns:a16="http://schemas.microsoft.com/office/drawing/2014/main" id="{358AC617-9877-7A33-6967-7C2CB835D5EF}"/>
              </a:ext>
            </a:extLst>
          </p:cNvPr>
          <p:cNvPicPr>
            <a:picLocks noChangeAspect="1"/>
          </p:cNvPicPr>
          <p:nvPr/>
        </p:nvPicPr>
        <p:blipFill>
          <a:blip r:embed="rId2">
            <a:extLst>
              <a:ext uri="{28A0092B-C50C-407E-A947-70E740481C1C}">
                <a14:useLocalDpi xmlns:a14="http://schemas.microsoft.com/office/drawing/2010/main" val="0"/>
              </a:ext>
            </a:extLst>
          </a:blip>
          <a:srcRect t="12231"/>
          <a:stretch>
            <a:fillRect/>
          </a:stretch>
        </p:blipFill>
        <p:spPr>
          <a:xfrm>
            <a:off x="9586452" y="0"/>
            <a:ext cx="2605548" cy="2605548"/>
          </a:xfrm>
          <a:prstGeom prst="rect">
            <a:avLst/>
          </a:prstGeom>
        </p:spPr>
      </p:pic>
      <p:sp>
        <p:nvSpPr>
          <p:cNvPr id="10" name="Arrow: Chevron 9">
            <a:extLst>
              <a:ext uri="{FF2B5EF4-FFF2-40B4-BE49-F238E27FC236}">
                <a16:creationId xmlns:a16="http://schemas.microsoft.com/office/drawing/2014/main" id="{216B28F6-A0EC-DB0F-D6D8-D47DC10697A4}"/>
              </a:ext>
            </a:extLst>
          </p:cNvPr>
          <p:cNvSpPr/>
          <p:nvPr/>
        </p:nvSpPr>
        <p:spPr>
          <a:xfrm>
            <a:off x="0" y="0"/>
            <a:ext cx="1567543" cy="1455575"/>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Block Arc 10">
            <a:extLst>
              <a:ext uri="{FF2B5EF4-FFF2-40B4-BE49-F238E27FC236}">
                <a16:creationId xmlns:a16="http://schemas.microsoft.com/office/drawing/2014/main" id="{0D7C7B32-442C-FBE6-9477-C9F22806FD53}"/>
              </a:ext>
            </a:extLst>
          </p:cNvPr>
          <p:cNvSpPr/>
          <p:nvPr/>
        </p:nvSpPr>
        <p:spPr>
          <a:xfrm>
            <a:off x="10889226" y="6251510"/>
            <a:ext cx="1268964" cy="1212979"/>
          </a:xfrm>
          <a:prstGeom prst="blockArc">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49749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2F40-73F5-DDB8-0202-3B13460A69E7}"/>
              </a:ext>
            </a:extLst>
          </p:cNvPr>
          <p:cNvSpPr>
            <a:spLocks noGrp="1"/>
          </p:cNvSpPr>
          <p:nvPr>
            <p:ph type="title"/>
          </p:nvPr>
        </p:nvSpPr>
        <p:spPr>
          <a:xfrm>
            <a:off x="1715292" y="973668"/>
            <a:ext cx="8761413" cy="706964"/>
          </a:xfrm>
        </p:spPr>
        <p:txBody>
          <a:bodyPr/>
          <a:lstStyle/>
          <a:p>
            <a:pPr algn="ctr"/>
            <a:r>
              <a:rPr lang="en-IN" b="1" dirty="0"/>
              <a:t>PROJECT OVERVIEW</a:t>
            </a:r>
          </a:p>
        </p:txBody>
      </p:sp>
      <p:sp>
        <p:nvSpPr>
          <p:cNvPr id="3" name="Content Placeholder 2">
            <a:extLst>
              <a:ext uri="{FF2B5EF4-FFF2-40B4-BE49-F238E27FC236}">
                <a16:creationId xmlns:a16="http://schemas.microsoft.com/office/drawing/2014/main" id="{6248790A-5F7E-C9F4-C377-DCFEA42A6368}"/>
              </a:ext>
            </a:extLst>
          </p:cNvPr>
          <p:cNvSpPr>
            <a:spLocks noGrp="1"/>
          </p:cNvSpPr>
          <p:nvPr>
            <p:ph idx="1"/>
          </p:nvPr>
        </p:nvSpPr>
        <p:spPr>
          <a:xfrm>
            <a:off x="1683170" y="3004716"/>
            <a:ext cx="8825659" cy="3416300"/>
          </a:xfrm>
        </p:spPr>
        <p:txBody>
          <a:bodyPr/>
          <a:lstStyle/>
          <a:p>
            <a:r>
              <a:rPr lang="en-IN" dirty="0"/>
              <a:t>This Project is about ‘</a:t>
            </a:r>
            <a:r>
              <a:rPr lang="en-IN" b="1" i="1" dirty="0"/>
              <a:t>Analysing Customer Data</a:t>
            </a:r>
            <a:r>
              <a:rPr lang="en-IN" dirty="0"/>
              <a:t>’ in which the dataset contains shopping information from 10 different shopping malls between 2021 and 2023. We have gathered data from various age groups and genders to provide a comprehensive view of shopping habits in Istanbul. The dataset includes essential information such as invoice numbers, customer IDs, age, gender, payment methods, product categories, quantity, price, order dates, and shopping mall locations. </a:t>
            </a:r>
          </a:p>
          <a:p>
            <a:endParaRPr lang="en-IN" dirty="0"/>
          </a:p>
        </p:txBody>
      </p:sp>
    </p:spTree>
    <p:extLst>
      <p:ext uri="{BB962C8B-B14F-4D97-AF65-F5344CB8AC3E}">
        <p14:creationId xmlns:p14="http://schemas.microsoft.com/office/powerpoint/2010/main" val="66190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9002C-57B6-1D09-C22E-D97EEEDF7848}"/>
              </a:ext>
            </a:extLst>
          </p:cNvPr>
          <p:cNvSpPr>
            <a:spLocks noGrp="1"/>
          </p:cNvSpPr>
          <p:nvPr>
            <p:ph type="title"/>
          </p:nvPr>
        </p:nvSpPr>
        <p:spPr>
          <a:xfrm>
            <a:off x="1541037" y="982999"/>
            <a:ext cx="9109923" cy="706964"/>
          </a:xfrm>
        </p:spPr>
        <p:txBody>
          <a:bodyPr/>
          <a:lstStyle/>
          <a:p>
            <a:pPr algn="ctr"/>
            <a:r>
              <a:rPr lang="en-IN" b="1" dirty="0"/>
              <a:t>ANALYZING THE PROJECT</a:t>
            </a:r>
          </a:p>
        </p:txBody>
      </p:sp>
      <p:sp>
        <p:nvSpPr>
          <p:cNvPr id="3" name="Content Placeholder 2">
            <a:extLst>
              <a:ext uri="{FF2B5EF4-FFF2-40B4-BE49-F238E27FC236}">
                <a16:creationId xmlns:a16="http://schemas.microsoft.com/office/drawing/2014/main" id="{F3449DF5-221C-5FF8-7518-828DE5695EF0}"/>
              </a:ext>
            </a:extLst>
          </p:cNvPr>
          <p:cNvSpPr>
            <a:spLocks noGrp="1"/>
          </p:cNvSpPr>
          <p:nvPr>
            <p:ph idx="1"/>
          </p:nvPr>
        </p:nvSpPr>
        <p:spPr>
          <a:xfrm>
            <a:off x="1683170" y="2958063"/>
            <a:ext cx="8825659" cy="3416300"/>
          </a:xfrm>
        </p:spPr>
        <p:txBody>
          <a:bodyPr/>
          <a:lstStyle/>
          <a:p>
            <a:r>
              <a:rPr lang="en-IN" dirty="0"/>
              <a:t>Analysing the business need of the given project is the most crucial and the initial step.</a:t>
            </a:r>
          </a:p>
          <a:p>
            <a:r>
              <a:rPr lang="en-IN" dirty="0"/>
              <a:t>Here in this ‘Customer Data Analysis’ the idea of the project is to solve the business needs and provide some valuable insight for the improvement of the business.</a:t>
            </a:r>
          </a:p>
          <a:p>
            <a:r>
              <a:rPr lang="en-IN" dirty="0"/>
              <a:t>Here in this project we are about to solve some tasks which we are supposed to do.</a:t>
            </a:r>
          </a:p>
          <a:p>
            <a:r>
              <a:rPr lang="en-IN" dirty="0"/>
              <a:t>As mentioned in previous slide We are provided with dataset of 10 different shopping malls from Istanbul from the year 2021 to 2023.</a:t>
            </a:r>
          </a:p>
        </p:txBody>
      </p:sp>
    </p:spTree>
    <p:extLst>
      <p:ext uri="{BB962C8B-B14F-4D97-AF65-F5344CB8AC3E}">
        <p14:creationId xmlns:p14="http://schemas.microsoft.com/office/powerpoint/2010/main" val="97247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53BE-1BA6-AB1E-931A-42BFB742F499}"/>
              </a:ext>
            </a:extLst>
          </p:cNvPr>
          <p:cNvSpPr>
            <a:spLocks noGrp="1"/>
          </p:cNvSpPr>
          <p:nvPr>
            <p:ph type="title"/>
          </p:nvPr>
        </p:nvSpPr>
        <p:spPr>
          <a:xfrm>
            <a:off x="1715292" y="955007"/>
            <a:ext cx="8761413" cy="706964"/>
          </a:xfrm>
        </p:spPr>
        <p:txBody>
          <a:bodyPr/>
          <a:lstStyle/>
          <a:p>
            <a:pPr algn="ctr"/>
            <a:r>
              <a:rPr lang="en-IN" b="1" dirty="0"/>
              <a:t>DATASET AND TASKS</a:t>
            </a:r>
          </a:p>
        </p:txBody>
      </p:sp>
      <p:sp>
        <p:nvSpPr>
          <p:cNvPr id="3" name="Content Placeholder 2">
            <a:extLst>
              <a:ext uri="{FF2B5EF4-FFF2-40B4-BE49-F238E27FC236}">
                <a16:creationId xmlns:a16="http://schemas.microsoft.com/office/drawing/2014/main" id="{7102CD88-EBB0-5C6A-DB36-A9003AAF8417}"/>
              </a:ext>
            </a:extLst>
          </p:cNvPr>
          <p:cNvSpPr>
            <a:spLocks noGrp="1"/>
          </p:cNvSpPr>
          <p:nvPr>
            <p:ph idx="1"/>
          </p:nvPr>
        </p:nvSpPr>
        <p:spPr>
          <a:xfrm>
            <a:off x="1683170" y="2986055"/>
            <a:ext cx="8825659" cy="3416300"/>
          </a:xfrm>
        </p:spPr>
        <p:txBody>
          <a:bodyPr>
            <a:normAutofit/>
          </a:bodyPr>
          <a:lstStyle/>
          <a:p>
            <a:r>
              <a:rPr lang="en-IN" dirty="0"/>
              <a:t>The shopping mall customer dataset consists of details like </a:t>
            </a:r>
            <a:r>
              <a:rPr lang="en-IN" b="1" dirty="0"/>
              <a:t>invoice_no, customer, gender, age, category, quantity, price, payment_method, invoice date, shopping mall</a:t>
            </a:r>
          </a:p>
          <a:p>
            <a:r>
              <a:rPr lang="en-IN" dirty="0"/>
              <a:t>We need to find the insights with the given tasks like</a:t>
            </a:r>
          </a:p>
          <a:p>
            <a:pPr lvl="0"/>
            <a:r>
              <a:rPr lang="en-IN" b="1" dirty="0"/>
              <a:t>How is the shopping distribution according to gender?</a:t>
            </a:r>
            <a:endParaRPr lang="en-IN" dirty="0"/>
          </a:p>
          <a:p>
            <a:pPr lvl="0"/>
            <a:r>
              <a:rPr lang="en-IN" b="1" dirty="0"/>
              <a:t>Which gender did we sell more products to?</a:t>
            </a:r>
            <a:endParaRPr lang="en-IN" dirty="0"/>
          </a:p>
          <a:p>
            <a:pPr lvl="0"/>
            <a:r>
              <a:rPr lang="en-IN" b="1" dirty="0"/>
              <a:t>Which gender generated more revenue?</a:t>
            </a:r>
            <a:endParaRPr lang="en-IN" dirty="0"/>
          </a:p>
          <a:p>
            <a:endParaRPr lang="en-IN" dirty="0"/>
          </a:p>
        </p:txBody>
      </p:sp>
    </p:spTree>
    <p:extLst>
      <p:ext uri="{BB962C8B-B14F-4D97-AF65-F5344CB8AC3E}">
        <p14:creationId xmlns:p14="http://schemas.microsoft.com/office/powerpoint/2010/main" val="126010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868133-49AE-4DA6-94D8-162DC7485CCB}"/>
              </a:ext>
            </a:extLst>
          </p:cNvPr>
          <p:cNvSpPr>
            <a:spLocks noGrp="1"/>
          </p:cNvSpPr>
          <p:nvPr>
            <p:ph idx="1"/>
          </p:nvPr>
        </p:nvSpPr>
        <p:spPr>
          <a:xfrm>
            <a:off x="1683170" y="2967394"/>
            <a:ext cx="8825659" cy="3416300"/>
          </a:xfrm>
        </p:spPr>
        <p:txBody>
          <a:bodyPr/>
          <a:lstStyle/>
          <a:p>
            <a:pPr lvl="0"/>
            <a:r>
              <a:rPr lang="en-IN" b="1" dirty="0"/>
              <a:t>Distribution of purchase categories relative to other columns?</a:t>
            </a:r>
            <a:endParaRPr lang="en-IN" dirty="0"/>
          </a:p>
          <a:p>
            <a:pPr lvl="0"/>
            <a:r>
              <a:rPr lang="en-IN" b="1" dirty="0"/>
              <a:t>How is the shopping distribution according to age?</a:t>
            </a:r>
            <a:endParaRPr lang="en-IN" dirty="0"/>
          </a:p>
          <a:p>
            <a:pPr lvl="0"/>
            <a:r>
              <a:rPr lang="en-IN" b="1" dirty="0"/>
              <a:t>Which age category did we sell more products to?</a:t>
            </a:r>
            <a:endParaRPr lang="en-IN" dirty="0"/>
          </a:p>
          <a:p>
            <a:pPr lvl="0"/>
            <a:r>
              <a:rPr lang="en-IN" b="1" dirty="0"/>
              <a:t>Which age category generated more revenue?</a:t>
            </a:r>
            <a:endParaRPr lang="en-IN" dirty="0"/>
          </a:p>
          <a:p>
            <a:pPr lvl="0"/>
            <a:r>
              <a:rPr lang="en-IN" b="1" dirty="0"/>
              <a:t>Distribution of purchase categories relative to other columns?</a:t>
            </a:r>
            <a:endParaRPr lang="en-IN" dirty="0"/>
          </a:p>
          <a:p>
            <a:pPr lvl="0"/>
            <a:r>
              <a:rPr lang="en-IN" b="1" dirty="0"/>
              <a:t>Does the payment method have a relation with other columns?</a:t>
            </a:r>
            <a:endParaRPr lang="en-IN" dirty="0"/>
          </a:p>
          <a:p>
            <a:pPr lvl="0"/>
            <a:r>
              <a:rPr lang="en-IN" b="1" dirty="0"/>
              <a:t>How is the distribution of the payment method?</a:t>
            </a:r>
            <a:endParaRPr lang="en-IN" dirty="0"/>
          </a:p>
          <a:p>
            <a:endParaRPr lang="en-IN" dirty="0"/>
          </a:p>
        </p:txBody>
      </p:sp>
    </p:spTree>
    <p:extLst>
      <p:ext uri="{BB962C8B-B14F-4D97-AF65-F5344CB8AC3E}">
        <p14:creationId xmlns:p14="http://schemas.microsoft.com/office/powerpoint/2010/main" val="63883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39BC-90A5-1215-7D0B-DBF4D98169E3}"/>
              </a:ext>
            </a:extLst>
          </p:cNvPr>
          <p:cNvSpPr>
            <a:spLocks noGrp="1"/>
          </p:cNvSpPr>
          <p:nvPr>
            <p:ph type="title"/>
          </p:nvPr>
        </p:nvSpPr>
        <p:spPr>
          <a:xfrm>
            <a:off x="1715292" y="955007"/>
            <a:ext cx="8761413" cy="706964"/>
          </a:xfrm>
        </p:spPr>
        <p:txBody>
          <a:bodyPr/>
          <a:lstStyle/>
          <a:p>
            <a:pPr algn="ctr"/>
            <a:r>
              <a:rPr lang="en-IN" b="1" dirty="0"/>
              <a:t>DATA PREPROCESSING IN SQL SERVER</a:t>
            </a:r>
          </a:p>
        </p:txBody>
      </p:sp>
      <p:sp>
        <p:nvSpPr>
          <p:cNvPr id="3" name="Content Placeholder 2">
            <a:extLst>
              <a:ext uri="{FF2B5EF4-FFF2-40B4-BE49-F238E27FC236}">
                <a16:creationId xmlns:a16="http://schemas.microsoft.com/office/drawing/2014/main" id="{9D225F4D-7236-1222-F319-CE4B29496F42}"/>
              </a:ext>
            </a:extLst>
          </p:cNvPr>
          <p:cNvSpPr>
            <a:spLocks noGrp="1"/>
          </p:cNvSpPr>
          <p:nvPr>
            <p:ph idx="1"/>
          </p:nvPr>
        </p:nvSpPr>
        <p:spPr>
          <a:xfrm>
            <a:off x="1683170" y="2799443"/>
            <a:ext cx="8825659" cy="3416300"/>
          </a:xfrm>
        </p:spPr>
        <p:txBody>
          <a:bodyPr/>
          <a:lstStyle/>
          <a:p>
            <a:r>
              <a:rPr lang="en-IN" b="1" dirty="0"/>
              <a:t>First step is to set up a connection with the </a:t>
            </a:r>
            <a:r>
              <a:rPr lang="en-IN" b="1" dirty="0" err="1"/>
              <a:t>Datamites</a:t>
            </a:r>
            <a:r>
              <a:rPr lang="en-IN" b="1" dirty="0"/>
              <a:t> Server with the given credentials and Loaded the Dataset in SQL Server</a:t>
            </a:r>
          </a:p>
          <a:p>
            <a:r>
              <a:rPr lang="en-IN" b="1" dirty="0"/>
              <a:t>Performed data profiling to assess the dataset’s characteristics (e.g., row count, unique values, statistics, missing data, duplicates) </a:t>
            </a:r>
          </a:p>
          <a:p>
            <a:pPr lvl="0"/>
            <a:r>
              <a:rPr lang="en-IN" dirty="0"/>
              <a:t>Checked unique values in invoice_no and </a:t>
            </a:r>
            <a:r>
              <a:rPr lang="en-IN" dirty="0" err="1"/>
              <a:t>customer_id</a:t>
            </a:r>
            <a:endParaRPr lang="en-IN" dirty="0"/>
          </a:p>
          <a:p>
            <a:pPr lvl="0"/>
            <a:r>
              <a:rPr lang="en-IN" dirty="0"/>
              <a:t>Checked the categorical columns</a:t>
            </a:r>
          </a:p>
          <a:p>
            <a:pPr lvl="0"/>
            <a:r>
              <a:rPr lang="en-IN" dirty="0"/>
              <a:t>checked the summary statistics </a:t>
            </a:r>
          </a:p>
          <a:p>
            <a:pPr lvl="0"/>
            <a:r>
              <a:rPr lang="en-IN" dirty="0"/>
              <a:t>Checked for the missing values in the columns</a:t>
            </a:r>
          </a:p>
          <a:p>
            <a:pPr lvl="0"/>
            <a:r>
              <a:rPr lang="en-IN" dirty="0"/>
              <a:t>Checked for the Duplicates</a:t>
            </a:r>
          </a:p>
          <a:p>
            <a:endParaRPr lang="en-IN" dirty="0"/>
          </a:p>
        </p:txBody>
      </p:sp>
    </p:spTree>
    <p:extLst>
      <p:ext uri="{BB962C8B-B14F-4D97-AF65-F5344CB8AC3E}">
        <p14:creationId xmlns:p14="http://schemas.microsoft.com/office/powerpoint/2010/main" val="373023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39C5-E5BA-F555-7B4F-C3C3AF322E67}"/>
              </a:ext>
            </a:extLst>
          </p:cNvPr>
          <p:cNvSpPr>
            <a:spLocks noGrp="1"/>
          </p:cNvSpPr>
          <p:nvPr>
            <p:ph type="title"/>
          </p:nvPr>
        </p:nvSpPr>
        <p:spPr>
          <a:xfrm>
            <a:off x="1715292" y="973668"/>
            <a:ext cx="8761413" cy="706964"/>
          </a:xfrm>
        </p:spPr>
        <p:txBody>
          <a:bodyPr/>
          <a:lstStyle/>
          <a:p>
            <a:pPr algn="ctr"/>
            <a:r>
              <a:rPr lang="en-IN" b="1" dirty="0"/>
              <a:t>DATA EXPLORATION IN POWER BI</a:t>
            </a:r>
          </a:p>
        </p:txBody>
      </p:sp>
      <p:sp>
        <p:nvSpPr>
          <p:cNvPr id="3" name="Content Placeholder 2">
            <a:extLst>
              <a:ext uri="{FF2B5EF4-FFF2-40B4-BE49-F238E27FC236}">
                <a16:creationId xmlns:a16="http://schemas.microsoft.com/office/drawing/2014/main" id="{32E73550-2399-0D58-67E4-5B55BBA198BC}"/>
              </a:ext>
            </a:extLst>
          </p:cNvPr>
          <p:cNvSpPr>
            <a:spLocks noGrp="1"/>
          </p:cNvSpPr>
          <p:nvPr>
            <p:ph idx="1"/>
          </p:nvPr>
        </p:nvSpPr>
        <p:spPr>
          <a:xfrm>
            <a:off x="1683170" y="2939402"/>
            <a:ext cx="8825659" cy="3416300"/>
          </a:xfrm>
        </p:spPr>
        <p:txBody>
          <a:bodyPr/>
          <a:lstStyle/>
          <a:p>
            <a:r>
              <a:rPr lang="en-IN" dirty="0"/>
              <a:t>After doing all the Preprocessing in SQL Server, the cleaned dataset in the form of CSV file is then exported into local for exploring the patterns and relationship . </a:t>
            </a:r>
          </a:p>
          <a:p>
            <a:r>
              <a:rPr lang="en-IN" dirty="0"/>
              <a:t>After importing we need to check once again whether the dataset imported properly without any missing in rows or columns</a:t>
            </a:r>
          </a:p>
          <a:p>
            <a:r>
              <a:rPr lang="en-IN" dirty="0"/>
              <a:t>Now the data is ready to be explored in deeper </a:t>
            </a:r>
          </a:p>
        </p:txBody>
      </p:sp>
    </p:spTree>
    <p:extLst>
      <p:ext uri="{BB962C8B-B14F-4D97-AF65-F5344CB8AC3E}">
        <p14:creationId xmlns:p14="http://schemas.microsoft.com/office/powerpoint/2010/main" val="201079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C5079-50A4-4885-86B0-6917890F5656}"/>
              </a:ext>
            </a:extLst>
          </p:cNvPr>
          <p:cNvSpPr>
            <a:spLocks noGrp="1"/>
          </p:cNvSpPr>
          <p:nvPr>
            <p:ph type="title"/>
          </p:nvPr>
        </p:nvSpPr>
        <p:spPr>
          <a:xfrm>
            <a:off x="840658" y="964337"/>
            <a:ext cx="10510684" cy="706964"/>
          </a:xfrm>
        </p:spPr>
        <p:txBody>
          <a:bodyPr/>
          <a:lstStyle/>
          <a:p>
            <a:pPr algn="ctr"/>
            <a:r>
              <a:rPr lang="en-IN" b="1" dirty="0"/>
              <a:t>SHOPPING DISTRIBUTION BY GENDER</a:t>
            </a:r>
          </a:p>
        </p:txBody>
      </p:sp>
      <p:sp>
        <p:nvSpPr>
          <p:cNvPr id="7" name="TextBox 6">
            <a:extLst>
              <a:ext uri="{FF2B5EF4-FFF2-40B4-BE49-F238E27FC236}">
                <a16:creationId xmlns:a16="http://schemas.microsoft.com/office/drawing/2014/main" id="{EC61447D-544A-7E30-6EB5-25DBB5AC917E}"/>
              </a:ext>
            </a:extLst>
          </p:cNvPr>
          <p:cNvSpPr txBox="1"/>
          <p:nvPr/>
        </p:nvSpPr>
        <p:spPr>
          <a:xfrm>
            <a:off x="7305040" y="3281679"/>
            <a:ext cx="4311573" cy="1695479"/>
          </a:xfrm>
          <a:prstGeom prst="rect">
            <a:avLst/>
          </a:prstGeom>
          <a:noFill/>
        </p:spPr>
        <p:txBody>
          <a:bodyPr wrap="square" rtlCol="0">
            <a:spAutoFit/>
          </a:bodyPr>
          <a:lstStyle/>
          <a:p>
            <a:r>
              <a:rPr lang="en-IN" sz="2000" dirty="0"/>
              <a:t>The Shopping Distribution Across the Gender reveals the insights as “</a:t>
            </a:r>
            <a:r>
              <a:rPr lang="en-IN" sz="2000" b="1" dirty="0"/>
              <a:t>Female has the most</a:t>
            </a:r>
            <a:r>
              <a:rPr lang="en-IN" sz="2000" dirty="0"/>
              <a:t> distribution of </a:t>
            </a:r>
            <a:r>
              <a:rPr lang="en-IN" sz="2000" b="1" dirty="0"/>
              <a:t>Purchase with Respect to the Price Amount</a:t>
            </a:r>
            <a:r>
              <a:rPr lang="en-IN" sz="2000" dirty="0"/>
              <a:t>”</a:t>
            </a:r>
          </a:p>
        </p:txBody>
      </p:sp>
      <p:pic>
        <p:nvPicPr>
          <p:cNvPr id="6" name="Content Placeholder 5">
            <a:extLst>
              <a:ext uri="{FF2B5EF4-FFF2-40B4-BE49-F238E27FC236}">
                <a16:creationId xmlns:a16="http://schemas.microsoft.com/office/drawing/2014/main" id="{F444D3B3-1642-DB9C-B79E-ACD922D53F6D}"/>
              </a:ext>
            </a:extLst>
          </p:cNvPr>
          <p:cNvPicPr>
            <a:picLocks noGrp="1" noChangeAspect="1"/>
          </p:cNvPicPr>
          <p:nvPr>
            <p:ph idx="1"/>
          </p:nvPr>
        </p:nvPicPr>
        <p:blipFill>
          <a:blip r:embed="rId2"/>
          <a:stretch>
            <a:fillRect/>
          </a:stretch>
        </p:blipFill>
        <p:spPr>
          <a:xfrm>
            <a:off x="1930400" y="2651760"/>
            <a:ext cx="4472663" cy="3627119"/>
          </a:xfrm>
        </p:spPr>
      </p:pic>
    </p:spTree>
    <p:extLst>
      <p:ext uri="{BB962C8B-B14F-4D97-AF65-F5344CB8AC3E}">
        <p14:creationId xmlns:p14="http://schemas.microsoft.com/office/powerpoint/2010/main" val="3824064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3B4F5-35B8-2F6B-63EE-1D5DAC4C6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E7533-0CF0-47FC-CBFA-9422A4764B84}"/>
              </a:ext>
            </a:extLst>
          </p:cNvPr>
          <p:cNvSpPr>
            <a:spLocks noGrp="1"/>
          </p:cNvSpPr>
          <p:nvPr>
            <p:ph type="title"/>
          </p:nvPr>
        </p:nvSpPr>
        <p:spPr>
          <a:xfrm>
            <a:off x="840658" y="964337"/>
            <a:ext cx="10510684" cy="706964"/>
          </a:xfrm>
        </p:spPr>
        <p:txBody>
          <a:bodyPr/>
          <a:lstStyle/>
          <a:p>
            <a:pPr algn="ctr"/>
            <a:r>
              <a:rPr lang="en-IN" b="1" dirty="0"/>
              <a:t>PRODUCT SALES BASED ON GENDER</a:t>
            </a:r>
          </a:p>
        </p:txBody>
      </p:sp>
      <p:sp>
        <p:nvSpPr>
          <p:cNvPr id="7" name="TextBox 6">
            <a:extLst>
              <a:ext uri="{FF2B5EF4-FFF2-40B4-BE49-F238E27FC236}">
                <a16:creationId xmlns:a16="http://schemas.microsoft.com/office/drawing/2014/main" id="{652A643F-4770-2D91-D796-AC609D47DCE4}"/>
              </a:ext>
            </a:extLst>
          </p:cNvPr>
          <p:cNvSpPr txBox="1"/>
          <p:nvPr/>
        </p:nvSpPr>
        <p:spPr>
          <a:xfrm>
            <a:off x="7472817" y="3429000"/>
            <a:ext cx="3677264" cy="1938992"/>
          </a:xfrm>
          <a:prstGeom prst="rect">
            <a:avLst/>
          </a:prstGeom>
          <a:noFill/>
        </p:spPr>
        <p:txBody>
          <a:bodyPr wrap="square" rtlCol="0">
            <a:spAutoFit/>
          </a:bodyPr>
          <a:lstStyle/>
          <a:p>
            <a:r>
              <a:rPr lang="en-IN" sz="2000" dirty="0"/>
              <a:t>The Number of sales on products shows that “</a:t>
            </a:r>
            <a:r>
              <a:rPr lang="en-IN" sz="2000" b="1" dirty="0"/>
              <a:t>Females Purchases more number of product </a:t>
            </a:r>
            <a:r>
              <a:rPr lang="en-IN" sz="2000" dirty="0"/>
              <a:t>with respect to purchase of males”</a:t>
            </a:r>
          </a:p>
        </p:txBody>
      </p:sp>
      <p:pic>
        <p:nvPicPr>
          <p:cNvPr id="6" name="Content Placeholder 5">
            <a:extLst>
              <a:ext uri="{FF2B5EF4-FFF2-40B4-BE49-F238E27FC236}">
                <a16:creationId xmlns:a16="http://schemas.microsoft.com/office/drawing/2014/main" id="{4839CE91-70AD-8C0C-CB07-014A156D2E0D}"/>
              </a:ext>
            </a:extLst>
          </p:cNvPr>
          <p:cNvPicPr>
            <a:picLocks noGrp="1" noChangeAspect="1"/>
          </p:cNvPicPr>
          <p:nvPr>
            <p:ph idx="1"/>
          </p:nvPr>
        </p:nvPicPr>
        <p:blipFill>
          <a:blip r:embed="rId2"/>
          <a:stretch>
            <a:fillRect/>
          </a:stretch>
        </p:blipFill>
        <p:spPr>
          <a:xfrm>
            <a:off x="1757681" y="2479041"/>
            <a:ext cx="4446946" cy="3414622"/>
          </a:xfrm>
        </p:spPr>
      </p:pic>
    </p:spTree>
    <p:extLst>
      <p:ext uri="{BB962C8B-B14F-4D97-AF65-F5344CB8AC3E}">
        <p14:creationId xmlns:p14="http://schemas.microsoft.com/office/powerpoint/2010/main" val="4029221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3F025-5A0A-C657-DDD3-C76E4D3E9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3E744-86EF-C03B-AB4E-709830A9F623}"/>
              </a:ext>
            </a:extLst>
          </p:cNvPr>
          <p:cNvSpPr>
            <a:spLocks noGrp="1"/>
          </p:cNvSpPr>
          <p:nvPr>
            <p:ph type="title"/>
          </p:nvPr>
        </p:nvSpPr>
        <p:spPr>
          <a:xfrm>
            <a:off x="840658" y="973668"/>
            <a:ext cx="10510684" cy="706964"/>
          </a:xfrm>
        </p:spPr>
        <p:txBody>
          <a:bodyPr/>
          <a:lstStyle/>
          <a:p>
            <a:pPr algn="ctr"/>
            <a:r>
              <a:rPr lang="en-IN" b="1" dirty="0"/>
              <a:t>REVENUE GENERATION BASED ON GENDER</a:t>
            </a:r>
          </a:p>
        </p:txBody>
      </p:sp>
      <p:sp>
        <p:nvSpPr>
          <p:cNvPr id="7" name="TextBox 6">
            <a:extLst>
              <a:ext uri="{FF2B5EF4-FFF2-40B4-BE49-F238E27FC236}">
                <a16:creationId xmlns:a16="http://schemas.microsoft.com/office/drawing/2014/main" id="{470A36A2-C643-A01A-DD27-549A68E63BDB}"/>
              </a:ext>
            </a:extLst>
          </p:cNvPr>
          <p:cNvSpPr txBox="1"/>
          <p:nvPr/>
        </p:nvSpPr>
        <p:spPr>
          <a:xfrm>
            <a:off x="6185194" y="2960455"/>
            <a:ext cx="3677264" cy="2923877"/>
          </a:xfrm>
          <a:prstGeom prst="rect">
            <a:avLst/>
          </a:prstGeom>
          <a:noFill/>
        </p:spPr>
        <p:txBody>
          <a:bodyPr wrap="square" rtlCol="0">
            <a:spAutoFit/>
          </a:bodyPr>
          <a:lstStyle/>
          <a:p>
            <a:r>
              <a:rPr lang="en-IN" sz="2000" dirty="0"/>
              <a:t>The Percentage of Revenue generated shows that “</a:t>
            </a:r>
            <a:r>
              <a:rPr lang="en-IN" sz="2000" b="1" dirty="0"/>
              <a:t>Females are more Revenue Generators than Males</a:t>
            </a:r>
            <a:r>
              <a:rPr lang="en-IN" sz="2000" dirty="0"/>
              <a:t>”</a:t>
            </a:r>
          </a:p>
          <a:p>
            <a:endParaRPr lang="en-IN" sz="2000" dirty="0"/>
          </a:p>
          <a:p>
            <a:r>
              <a:rPr lang="en-IN" sz="2000" dirty="0"/>
              <a:t>(</a:t>
            </a:r>
            <a:r>
              <a:rPr lang="en-IN" sz="2000" b="1" dirty="0"/>
              <a:t>Female – 59.71 %</a:t>
            </a:r>
            <a:r>
              <a:rPr lang="en-IN" sz="2000" dirty="0"/>
              <a:t>, </a:t>
            </a:r>
          </a:p>
          <a:p>
            <a:r>
              <a:rPr lang="en-IN" sz="2000" b="1" dirty="0"/>
              <a:t>Male – 40.29 %)</a:t>
            </a:r>
          </a:p>
          <a:p>
            <a:endParaRPr lang="en-IN" sz="2400" dirty="0"/>
          </a:p>
        </p:txBody>
      </p:sp>
      <p:pic>
        <p:nvPicPr>
          <p:cNvPr id="10" name="Content Placeholder 9">
            <a:extLst>
              <a:ext uri="{FF2B5EF4-FFF2-40B4-BE49-F238E27FC236}">
                <a16:creationId xmlns:a16="http://schemas.microsoft.com/office/drawing/2014/main" id="{6B64137A-A1D5-F566-E1FB-34A1FAACF5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7760" y="2641600"/>
            <a:ext cx="4155440" cy="3556000"/>
          </a:xfrm>
        </p:spPr>
      </p:pic>
    </p:spTree>
    <p:extLst>
      <p:ext uri="{BB962C8B-B14F-4D97-AF65-F5344CB8AC3E}">
        <p14:creationId xmlns:p14="http://schemas.microsoft.com/office/powerpoint/2010/main" val="2892191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A0788-7831-15D9-6D09-7D4999507FA1}"/>
              </a:ext>
            </a:extLst>
          </p:cNvPr>
          <p:cNvSpPr>
            <a:spLocks noGrp="1"/>
          </p:cNvSpPr>
          <p:nvPr>
            <p:ph type="title"/>
          </p:nvPr>
        </p:nvSpPr>
        <p:spPr/>
        <p:txBody>
          <a:bodyPr/>
          <a:lstStyle/>
          <a:p>
            <a:pPr algn="ctr"/>
            <a:r>
              <a:rPr lang="en-US" b="1" dirty="0"/>
              <a:t>REVENUE BY AGE_CATEGORY</a:t>
            </a:r>
            <a:endParaRPr lang="en-IN" b="1" dirty="0"/>
          </a:p>
        </p:txBody>
      </p:sp>
      <p:sp>
        <p:nvSpPr>
          <p:cNvPr id="3" name="Content Placeholder 2">
            <a:extLst>
              <a:ext uri="{FF2B5EF4-FFF2-40B4-BE49-F238E27FC236}">
                <a16:creationId xmlns:a16="http://schemas.microsoft.com/office/drawing/2014/main" id="{F2EA81E1-B1B4-FBD8-0F38-5C135A2E6F19}"/>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535C6798-7FF2-C9E7-0224-9E62BB8BA91F}"/>
              </a:ext>
            </a:extLst>
          </p:cNvPr>
          <p:cNvSpPr>
            <a:spLocks noGrp="1"/>
          </p:cNvSpPr>
          <p:nvPr>
            <p:ph sz="half" idx="2"/>
          </p:nvPr>
        </p:nvSpPr>
        <p:spPr/>
        <p:txBody>
          <a:bodyPr>
            <a:normAutofit/>
          </a:bodyPr>
          <a:lstStyle/>
          <a:p>
            <a:pPr marL="0" indent="0">
              <a:buNone/>
            </a:pPr>
            <a:r>
              <a:rPr lang="en-US" sz="2400" b="1" dirty="0"/>
              <a:t>Adults contribute the highest revenue (31.0%)</a:t>
            </a:r>
            <a:r>
              <a:rPr lang="en-US" sz="2400" dirty="0"/>
              <a:t>, followed by </a:t>
            </a:r>
            <a:r>
              <a:rPr lang="en-US" sz="2400" b="1" dirty="0"/>
              <a:t>Middle Age (28.6%)</a:t>
            </a:r>
            <a:r>
              <a:rPr lang="en-US" sz="2400" dirty="0"/>
              <a:t> and </a:t>
            </a:r>
            <a:r>
              <a:rPr lang="en-US" sz="2400" b="1" dirty="0"/>
              <a:t>Young Adults (19.5%)</a:t>
            </a:r>
            <a:r>
              <a:rPr lang="en-US" sz="2400" dirty="0"/>
              <a:t>, while </a:t>
            </a:r>
            <a:r>
              <a:rPr lang="en-US" sz="2400" b="1" dirty="0"/>
              <a:t>Teens and Seniors</a:t>
            </a:r>
            <a:r>
              <a:rPr lang="en-US" sz="2400" dirty="0"/>
              <a:t> make up the </a:t>
            </a:r>
            <a:r>
              <a:rPr lang="en-US" sz="2400" b="1" dirty="0"/>
              <a:t>smallest shares</a:t>
            </a:r>
            <a:r>
              <a:rPr lang="en-US" sz="2400" dirty="0"/>
              <a:t> of total revenue.</a:t>
            </a:r>
            <a:endParaRPr lang="en-IN" sz="2400" dirty="0"/>
          </a:p>
        </p:txBody>
      </p:sp>
      <p:pic>
        <p:nvPicPr>
          <p:cNvPr id="6" name="Picture 5">
            <a:extLst>
              <a:ext uri="{FF2B5EF4-FFF2-40B4-BE49-F238E27FC236}">
                <a16:creationId xmlns:a16="http://schemas.microsoft.com/office/drawing/2014/main" id="{F51D1661-7693-67C6-8ED0-3EA8383805F6}"/>
              </a:ext>
            </a:extLst>
          </p:cNvPr>
          <p:cNvPicPr>
            <a:picLocks noChangeAspect="1"/>
          </p:cNvPicPr>
          <p:nvPr/>
        </p:nvPicPr>
        <p:blipFill>
          <a:blip r:embed="rId2"/>
          <a:stretch>
            <a:fillRect/>
          </a:stretch>
        </p:blipFill>
        <p:spPr>
          <a:xfrm>
            <a:off x="1154954" y="2603500"/>
            <a:ext cx="4825158" cy="3416300"/>
          </a:xfrm>
          <a:prstGeom prst="rect">
            <a:avLst/>
          </a:prstGeom>
        </p:spPr>
      </p:pic>
    </p:spTree>
    <p:extLst>
      <p:ext uri="{BB962C8B-B14F-4D97-AF65-F5344CB8AC3E}">
        <p14:creationId xmlns:p14="http://schemas.microsoft.com/office/powerpoint/2010/main" val="324864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36148-44FE-17EC-81C4-1FE1536EA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ACB5B-8FA8-3C93-DA1F-47AA399EDE3E}"/>
              </a:ext>
            </a:extLst>
          </p:cNvPr>
          <p:cNvSpPr>
            <a:spLocks noGrp="1"/>
          </p:cNvSpPr>
          <p:nvPr>
            <p:ph type="title"/>
          </p:nvPr>
        </p:nvSpPr>
        <p:spPr>
          <a:xfrm>
            <a:off x="840658" y="964337"/>
            <a:ext cx="10510684" cy="706964"/>
          </a:xfrm>
        </p:spPr>
        <p:txBody>
          <a:bodyPr/>
          <a:lstStyle/>
          <a:p>
            <a:pPr algn="ctr"/>
            <a:r>
              <a:rPr lang="en-US" b="1" dirty="0"/>
              <a:t>R</a:t>
            </a:r>
            <a:r>
              <a:rPr lang="en-IN" b="1" dirty="0"/>
              <a:t>EVENUE BY CATEGORY AND GENDER</a:t>
            </a:r>
          </a:p>
        </p:txBody>
      </p:sp>
      <p:sp>
        <p:nvSpPr>
          <p:cNvPr id="7" name="TextBox 6">
            <a:extLst>
              <a:ext uri="{FF2B5EF4-FFF2-40B4-BE49-F238E27FC236}">
                <a16:creationId xmlns:a16="http://schemas.microsoft.com/office/drawing/2014/main" id="{151A06C8-FF53-5B83-4A79-0ABD4FB7670F}"/>
              </a:ext>
            </a:extLst>
          </p:cNvPr>
          <p:cNvSpPr txBox="1"/>
          <p:nvPr/>
        </p:nvSpPr>
        <p:spPr>
          <a:xfrm>
            <a:off x="7040880" y="2808538"/>
            <a:ext cx="4071880" cy="2246769"/>
          </a:xfrm>
          <a:prstGeom prst="rect">
            <a:avLst/>
          </a:prstGeom>
          <a:noFill/>
        </p:spPr>
        <p:txBody>
          <a:bodyPr wrap="square" rtlCol="0">
            <a:spAutoFit/>
          </a:bodyPr>
          <a:lstStyle/>
          <a:p>
            <a:r>
              <a:rPr lang="en-US" sz="2000" dirty="0"/>
              <a:t>The </a:t>
            </a:r>
            <a:r>
              <a:rPr lang="en-US" sz="2000" b="1" dirty="0"/>
              <a:t>Revenue by Category and Gender</a:t>
            </a:r>
            <a:r>
              <a:rPr lang="en-US" sz="2000" dirty="0"/>
              <a:t> shows that </a:t>
            </a:r>
            <a:r>
              <a:rPr lang="en-US" sz="2000" b="1" dirty="0"/>
              <a:t>Clothing</a:t>
            </a:r>
            <a:r>
              <a:rPr lang="en-US" sz="2000" dirty="0"/>
              <a:t> generated the </a:t>
            </a:r>
            <a:r>
              <a:rPr lang="en-US" sz="2000" b="1" dirty="0"/>
              <a:t>highest revenue</a:t>
            </a:r>
            <a:r>
              <a:rPr lang="en-US" sz="2000" dirty="0"/>
              <a:t>, with </a:t>
            </a:r>
            <a:r>
              <a:rPr lang="en-US" sz="2000" b="1" dirty="0"/>
              <a:t>Females (₹6,82,51,695.60)</a:t>
            </a:r>
            <a:r>
              <a:rPr lang="en-US" sz="2000" dirty="0"/>
              <a:t> contributing significantly more than </a:t>
            </a:r>
            <a:r>
              <a:rPr lang="en-US" sz="2000" b="1" dirty="0"/>
              <a:t>Males (₹4,57,45,095.44)</a:t>
            </a:r>
            <a:r>
              <a:rPr lang="en-US" sz="2000" dirty="0"/>
              <a:t>.</a:t>
            </a:r>
            <a:endParaRPr lang="en-IN" sz="2000" b="1" dirty="0"/>
          </a:p>
        </p:txBody>
      </p:sp>
      <p:pic>
        <p:nvPicPr>
          <p:cNvPr id="14" name="Content Placeholder 13">
            <a:extLst>
              <a:ext uri="{FF2B5EF4-FFF2-40B4-BE49-F238E27FC236}">
                <a16:creationId xmlns:a16="http://schemas.microsoft.com/office/drawing/2014/main" id="{1B0BBF1B-3CB3-05DF-9A0E-B3F347ED95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3840" y="2672080"/>
            <a:ext cx="4582160" cy="3332480"/>
          </a:xfrm>
        </p:spPr>
      </p:pic>
    </p:spTree>
    <p:extLst>
      <p:ext uri="{BB962C8B-B14F-4D97-AF65-F5344CB8AC3E}">
        <p14:creationId xmlns:p14="http://schemas.microsoft.com/office/powerpoint/2010/main" val="3997642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C85F-754C-FA07-E478-D059CB736B0C}"/>
              </a:ext>
            </a:extLst>
          </p:cNvPr>
          <p:cNvSpPr>
            <a:spLocks noGrp="1"/>
          </p:cNvSpPr>
          <p:nvPr>
            <p:ph type="title"/>
          </p:nvPr>
        </p:nvSpPr>
        <p:spPr/>
        <p:txBody>
          <a:bodyPr/>
          <a:lstStyle/>
          <a:p>
            <a:pPr algn="ctr"/>
            <a:r>
              <a:rPr lang="en-IN" sz="3600" b="1" dirty="0"/>
              <a:t>SHOPPING DISTRIBUTION BY AGE_GROUP</a:t>
            </a:r>
            <a:endParaRPr lang="en-IN" dirty="0"/>
          </a:p>
        </p:txBody>
      </p:sp>
      <p:sp>
        <p:nvSpPr>
          <p:cNvPr id="4" name="Content Placeholder 3">
            <a:extLst>
              <a:ext uri="{FF2B5EF4-FFF2-40B4-BE49-F238E27FC236}">
                <a16:creationId xmlns:a16="http://schemas.microsoft.com/office/drawing/2014/main" id="{79901C17-D0CA-B1E4-5BBF-550B4CAF1DEB}"/>
              </a:ext>
            </a:extLst>
          </p:cNvPr>
          <p:cNvSpPr>
            <a:spLocks noGrp="1"/>
          </p:cNvSpPr>
          <p:nvPr>
            <p:ph sz="half" idx="2"/>
          </p:nvPr>
        </p:nvSpPr>
        <p:spPr>
          <a:xfrm>
            <a:off x="6776721" y="3241040"/>
            <a:ext cx="3942080" cy="2778760"/>
          </a:xfrm>
        </p:spPr>
        <p:txBody>
          <a:bodyPr/>
          <a:lstStyle/>
          <a:p>
            <a:pPr marL="0" indent="0">
              <a:buNone/>
            </a:pPr>
            <a:r>
              <a:rPr lang="en-US" b="1" dirty="0"/>
              <a:t>Adults</a:t>
            </a:r>
            <a:r>
              <a:rPr lang="en-US" dirty="0"/>
              <a:t> have the </a:t>
            </a:r>
            <a:r>
              <a:rPr lang="en-US" b="1" dirty="0"/>
              <a:t>highest shopping distribution (31K)</a:t>
            </a:r>
            <a:r>
              <a:rPr lang="en-US" dirty="0"/>
              <a:t>, followed by </a:t>
            </a:r>
            <a:r>
              <a:rPr lang="en-US" b="1" dirty="0"/>
              <a:t>Middle Age (28K)</a:t>
            </a:r>
            <a:r>
              <a:rPr lang="en-US" dirty="0"/>
              <a:t> and </a:t>
            </a:r>
            <a:r>
              <a:rPr lang="en-US" b="1" dirty="0"/>
              <a:t>Young Adults (19K)</a:t>
            </a:r>
            <a:r>
              <a:rPr lang="en-US" dirty="0"/>
              <a:t>, while </a:t>
            </a:r>
            <a:r>
              <a:rPr lang="en-US" b="1" dirty="0"/>
              <a:t>Teens (4K)</a:t>
            </a:r>
            <a:r>
              <a:rPr lang="en-US" dirty="0"/>
              <a:t> show the </a:t>
            </a:r>
            <a:r>
              <a:rPr lang="en-US" b="1" dirty="0"/>
              <a:t>lowest participation</a:t>
            </a:r>
            <a:r>
              <a:rPr lang="en-US" dirty="0"/>
              <a:t>.</a:t>
            </a:r>
            <a:endParaRPr lang="en-IN" dirty="0"/>
          </a:p>
        </p:txBody>
      </p:sp>
      <p:sp>
        <p:nvSpPr>
          <p:cNvPr id="6" name="Content Placeholder 5">
            <a:extLst>
              <a:ext uri="{FF2B5EF4-FFF2-40B4-BE49-F238E27FC236}">
                <a16:creationId xmlns:a16="http://schemas.microsoft.com/office/drawing/2014/main" id="{8D12988D-192B-5D55-7DFA-0483D47E05F6}"/>
              </a:ext>
            </a:extLst>
          </p:cNvPr>
          <p:cNvSpPr>
            <a:spLocks noGrp="1"/>
          </p:cNvSpPr>
          <p:nvPr>
            <p:ph sz="half" idx="1"/>
          </p:nvPr>
        </p:nvSpPr>
        <p:spPr/>
        <p:txBody>
          <a:bodyPr/>
          <a:lstStyle/>
          <a:p>
            <a:endParaRPr lang="en-IN"/>
          </a:p>
        </p:txBody>
      </p:sp>
      <p:pic>
        <p:nvPicPr>
          <p:cNvPr id="8" name="Picture 7">
            <a:extLst>
              <a:ext uri="{FF2B5EF4-FFF2-40B4-BE49-F238E27FC236}">
                <a16:creationId xmlns:a16="http://schemas.microsoft.com/office/drawing/2014/main" id="{3AED70DA-1A64-4B03-210E-B43F50EF83F9}"/>
              </a:ext>
            </a:extLst>
          </p:cNvPr>
          <p:cNvPicPr>
            <a:picLocks noChangeAspect="1"/>
          </p:cNvPicPr>
          <p:nvPr/>
        </p:nvPicPr>
        <p:blipFill>
          <a:blip r:embed="rId2"/>
          <a:stretch>
            <a:fillRect/>
          </a:stretch>
        </p:blipFill>
        <p:spPr>
          <a:xfrm>
            <a:off x="1154954" y="2603500"/>
            <a:ext cx="4825157" cy="3416300"/>
          </a:xfrm>
          <a:prstGeom prst="rect">
            <a:avLst/>
          </a:prstGeom>
        </p:spPr>
      </p:pic>
    </p:spTree>
    <p:extLst>
      <p:ext uri="{BB962C8B-B14F-4D97-AF65-F5344CB8AC3E}">
        <p14:creationId xmlns:p14="http://schemas.microsoft.com/office/powerpoint/2010/main" val="2788606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C3D6E-B4C3-9DE4-4605-3215E7BB3A49}"/>
              </a:ext>
            </a:extLst>
          </p:cNvPr>
          <p:cNvSpPr>
            <a:spLocks noGrp="1"/>
          </p:cNvSpPr>
          <p:nvPr>
            <p:ph type="title"/>
          </p:nvPr>
        </p:nvSpPr>
        <p:spPr/>
        <p:txBody>
          <a:bodyPr/>
          <a:lstStyle/>
          <a:p>
            <a:pPr algn="ctr"/>
            <a:r>
              <a:rPr lang="en-US" b="1" dirty="0"/>
              <a:t>DISTRIBUTION OF PURCHASE CATEGORIES BY AGE_GROUP</a:t>
            </a:r>
            <a:endParaRPr lang="en-IN" b="1" dirty="0"/>
          </a:p>
        </p:txBody>
      </p:sp>
      <p:sp>
        <p:nvSpPr>
          <p:cNvPr id="4" name="Content Placeholder 3">
            <a:extLst>
              <a:ext uri="{FF2B5EF4-FFF2-40B4-BE49-F238E27FC236}">
                <a16:creationId xmlns:a16="http://schemas.microsoft.com/office/drawing/2014/main" id="{F0187A7E-5E27-E7A6-78BB-8E612663075D}"/>
              </a:ext>
            </a:extLst>
          </p:cNvPr>
          <p:cNvSpPr>
            <a:spLocks noGrp="1"/>
          </p:cNvSpPr>
          <p:nvPr>
            <p:ph sz="half" idx="2"/>
          </p:nvPr>
        </p:nvSpPr>
        <p:spPr>
          <a:xfrm>
            <a:off x="7051040" y="3098800"/>
            <a:ext cx="3982831" cy="2275840"/>
          </a:xfrm>
        </p:spPr>
        <p:txBody>
          <a:bodyPr/>
          <a:lstStyle/>
          <a:p>
            <a:pPr marL="0" indent="0">
              <a:buNone/>
            </a:pPr>
            <a:r>
              <a:rPr lang="en-US" dirty="0"/>
              <a:t>The Category of Purchase shows that more number of purchases happened in </a:t>
            </a:r>
            <a:r>
              <a:rPr lang="en-US" b="1" dirty="0"/>
              <a:t>Clothing</a:t>
            </a:r>
            <a:r>
              <a:rPr lang="en-US" dirty="0"/>
              <a:t>, where </a:t>
            </a:r>
            <a:r>
              <a:rPr lang="en-US" b="1" dirty="0"/>
              <a:t>Females </a:t>
            </a:r>
            <a:r>
              <a:rPr lang="en-US" dirty="0"/>
              <a:t> purchased more compared to </a:t>
            </a:r>
            <a:r>
              <a:rPr lang="en-US" b="1" dirty="0"/>
              <a:t>Males </a:t>
            </a:r>
            <a:r>
              <a:rPr lang="en-US" dirty="0"/>
              <a:t>.</a:t>
            </a:r>
            <a:endParaRPr lang="en-IN" dirty="0"/>
          </a:p>
        </p:txBody>
      </p:sp>
      <p:sp>
        <p:nvSpPr>
          <p:cNvPr id="5" name="Content Placeholder 4">
            <a:extLst>
              <a:ext uri="{FF2B5EF4-FFF2-40B4-BE49-F238E27FC236}">
                <a16:creationId xmlns:a16="http://schemas.microsoft.com/office/drawing/2014/main" id="{A74FF838-A2AD-D9D4-EC18-831EA64B8B2F}"/>
              </a:ext>
            </a:extLst>
          </p:cNvPr>
          <p:cNvSpPr>
            <a:spLocks noGrp="1"/>
          </p:cNvSpPr>
          <p:nvPr>
            <p:ph sz="half" idx="1"/>
          </p:nvPr>
        </p:nvSpPr>
        <p:spPr/>
        <p:txBody>
          <a:bodyPr/>
          <a:lstStyle/>
          <a:p>
            <a:endParaRPr lang="en-IN"/>
          </a:p>
        </p:txBody>
      </p:sp>
      <p:pic>
        <p:nvPicPr>
          <p:cNvPr id="8" name="Picture 7">
            <a:extLst>
              <a:ext uri="{FF2B5EF4-FFF2-40B4-BE49-F238E27FC236}">
                <a16:creationId xmlns:a16="http://schemas.microsoft.com/office/drawing/2014/main" id="{32C9BDB2-DE56-8655-3B8C-8C4989D8A4F7}"/>
              </a:ext>
            </a:extLst>
          </p:cNvPr>
          <p:cNvPicPr>
            <a:picLocks noChangeAspect="1"/>
          </p:cNvPicPr>
          <p:nvPr/>
        </p:nvPicPr>
        <p:blipFill>
          <a:blip r:embed="rId2"/>
          <a:stretch>
            <a:fillRect/>
          </a:stretch>
        </p:blipFill>
        <p:spPr>
          <a:xfrm>
            <a:off x="1154954" y="2603500"/>
            <a:ext cx="4825158" cy="3416301"/>
          </a:xfrm>
          <a:prstGeom prst="rect">
            <a:avLst/>
          </a:prstGeom>
        </p:spPr>
      </p:pic>
    </p:spTree>
    <p:extLst>
      <p:ext uri="{BB962C8B-B14F-4D97-AF65-F5344CB8AC3E}">
        <p14:creationId xmlns:p14="http://schemas.microsoft.com/office/powerpoint/2010/main" val="2366044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8B8F-BAD5-4F0F-D6E2-2DBD622B0937}"/>
              </a:ext>
            </a:extLst>
          </p:cNvPr>
          <p:cNvSpPr>
            <a:spLocks noGrp="1"/>
          </p:cNvSpPr>
          <p:nvPr>
            <p:ph type="title"/>
          </p:nvPr>
        </p:nvSpPr>
        <p:spPr/>
        <p:txBody>
          <a:bodyPr/>
          <a:lstStyle/>
          <a:p>
            <a:pPr algn="ctr"/>
            <a:r>
              <a:rPr lang="en-US" b="1" dirty="0"/>
              <a:t>Invoice Count by category and gender</a:t>
            </a:r>
            <a:endParaRPr lang="en-IN" b="1" dirty="0"/>
          </a:p>
        </p:txBody>
      </p:sp>
      <p:sp>
        <p:nvSpPr>
          <p:cNvPr id="3" name="Content Placeholder 2">
            <a:extLst>
              <a:ext uri="{FF2B5EF4-FFF2-40B4-BE49-F238E27FC236}">
                <a16:creationId xmlns:a16="http://schemas.microsoft.com/office/drawing/2014/main" id="{7E1EEE03-C7B1-9927-B334-7F6D94C10484}"/>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BB90352C-6B44-2AF9-0D3B-701521A4B891}"/>
              </a:ext>
            </a:extLst>
          </p:cNvPr>
          <p:cNvSpPr>
            <a:spLocks noGrp="1"/>
          </p:cNvSpPr>
          <p:nvPr>
            <p:ph sz="half" idx="2"/>
          </p:nvPr>
        </p:nvSpPr>
        <p:spPr/>
        <p:txBody>
          <a:bodyPr>
            <a:normAutofit/>
          </a:bodyPr>
          <a:lstStyle/>
          <a:p>
            <a:pPr marL="0" indent="0">
              <a:buNone/>
            </a:pPr>
            <a:r>
              <a:rPr lang="en-US" sz="2400" b="1" dirty="0"/>
              <a:t>Clothing</a:t>
            </a:r>
            <a:r>
              <a:rPr lang="en-US" sz="2400" dirty="0"/>
              <a:t> leads with the </a:t>
            </a:r>
            <a:r>
              <a:rPr lang="en-US" sz="2400" b="1" dirty="0"/>
              <a:t>highest invoice count (35K)</a:t>
            </a:r>
            <a:r>
              <a:rPr lang="en-US" sz="2400" dirty="0"/>
              <a:t>, followed by </a:t>
            </a:r>
            <a:r>
              <a:rPr lang="en-US" sz="2400" b="1" dirty="0"/>
              <a:t>Cosmetics</a:t>
            </a:r>
            <a:r>
              <a:rPr lang="en-US" sz="2400" dirty="0"/>
              <a:t> and </a:t>
            </a:r>
            <a:r>
              <a:rPr lang="en-US" sz="2400" b="1" dirty="0"/>
              <a:t>Food &amp; Beverage (15K each)</a:t>
            </a:r>
            <a:r>
              <a:rPr lang="en-US" sz="2400" dirty="0"/>
              <a:t>, while </a:t>
            </a:r>
            <a:r>
              <a:rPr lang="en-US" sz="2400" b="1" dirty="0"/>
              <a:t>Souvenir, Technology, and Books</a:t>
            </a:r>
            <a:r>
              <a:rPr lang="en-US" sz="2400" dirty="0"/>
              <a:t> record the </a:t>
            </a:r>
            <a:r>
              <a:rPr lang="en-US" sz="2400" b="1" dirty="0"/>
              <a:t>lowest counts</a:t>
            </a:r>
            <a:r>
              <a:rPr lang="en-US" sz="2400" dirty="0"/>
              <a:t> across categories.</a:t>
            </a:r>
            <a:endParaRPr lang="en-IN" sz="2400" dirty="0"/>
          </a:p>
        </p:txBody>
      </p:sp>
      <p:pic>
        <p:nvPicPr>
          <p:cNvPr id="6" name="Picture 5">
            <a:extLst>
              <a:ext uri="{FF2B5EF4-FFF2-40B4-BE49-F238E27FC236}">
                <a16:creationId xmlns:a16="http://schemas.microsoft.com/office/drawing/2014/main" id="{1EA62D8D-9F36-BA5D-0867-D9FA1D4BB974}"/>
              </a:ext>
            </a:extLst>
          </p:cNvPr>
          <p:cNvPicPr>
            <a:picLocks noChangeAspect="1"/>
          </p:cNvPicPr>
          <p:nvPr/>
        </p:nvPicPr>
        <p:blipFill>
          <a:blip r:embed="rId2"/>
          <a:stretch>
            <a:fillRect/>
          </a:stretch>
        </p:blipFill>
        <p:spPr>
          <a:xfrm>
            <a:off x="1154954" y="2603500"/>
            <a:ext cx="4825158" cy="3416300"/>
          </a:xfrm>
          <a:prstGeom prst="rect">
            <a:avLst/>
          </a:prstGeom>
        </p:spPr>
      </p:pic>
    </p:spTree>
    <p:extLst>
      <p:ext uri="{BB962C8B-B14F-4D97-AF65-F5344CB8AC3E}">
        <p14:creationId xmlns:p14="http://schemas.microsoft.com/office/powerpoint/2010/main" val="583499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ACEDF-7B9B-1A6C-FE84-1690779BC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540B2-D5EE-06FB-5752-4B2C7E2F367B}"/>
              </a:ext>
            </a:extLst>
          </p:cNvPr>
          <p:cNvSpPr>
            <a:spLocks noGrp="1"/>
          </p:cNvSpPr>
          <p:nvPr>
            <p:ph type="title"/>
          </p:nvPr>
        </p:nvSpPr>
        <p:spPr>
          <a:xfrm>
            <a:off x="1715293" y="970263"/>
            <a:ext cx="8761413" cy="706964"/>
          </a:xfrm>
        </p:spPr>
        <p:txBody>
          <a:bodyPr/>
          <a:lstStyle/>
          <a:p>
            <a:pPr algn="ctr"/>
            <a:r>
              <a:rPr lang="en-US" b="1" dirty="0"/>
              <a:t>Distribution of Orders by Payment Method</a:t>
            </a:r>
            <a:endParaRPr lang="en-IN" b="1" dirty="0"/>
          </a:p>
        </p:txBody>
      </p:sp>
      <p:sp>
        <p:nvSpPr>
          <p:cNvPr id="10" name="TextBox 9">
            <a:extLst>
              <a:ext uri="{FF2B5EF4-FFF2-40B4-BE49-F238E27FC236}">
                <a16:creationId xmlns:a16="http://schemas.microsoft.com/office/drawing/2014/main" id="{39221A64-DCA5-EEB4-F2D6-A68192F5C5F2}"/>
              </a:ext>
            </a:extLst>
          </p:cNvPr>
          <p:cNvSpPr txBox="1"/>
          <p:nvPr/>
        </p:nvSpPr>
        <p:spPr>
          <a:xfrm>
            <a:off x="7073900" y="3111500"/>
            <a:ext cx="4514720" cy="2308324"/>
          </a:xfrm>
          <a:prstGeom prst="rect">
            <a:avLst/>
          </a:prstGeom>
          <a:noFill/>
        </p:spPr>
        <p:txBody>
          <a:bodyPr wrap="square" rtlCol="0">
            <a:spAutoFit/>
          </a:bodyPr>
          <a:lstStyle/>
          <a:p>
            <a:r>
              <a:rPr lang="en-US" sz="2400" b="1" dirty="0"/>
              <a:t>Cash payments dominate with 44.86% of total orders</a:t>
            </a:r>
            <a:r>
              <a:rPr lang="en-US" sz="2400" dirty="0"/>
              <a:t>, followed by </a:t>
            </a:r>
            <a:r>
              <a:rPr lang="en-US" sz="2400" b="1" dirty="0"/>
              <a:t>Credit Cards (35.02%)</a:t>
            </a:r>
            <a:r>
              <a:rPr lang="en-US" sz="2400" dirty="0"/>
              <a:t>, while </a:t>
            </a:r>
            <a:r>
              <a:rPr lang="en-US" sz="2400" b="1" dirty="0"/>
              <a:t>Debit Cards (20.12%)</a:t>
            </a:r>
            <a:r>
              <a:rPr lang="en-US" sz="2400" dirty="0"/>
              <a:t> are the </a:t>
            </a:r>
            <a:r>
              <a:rPr lang="en-US" sz="2400" b="1" dirty="0"/>
              <a:t>least used payment method</a:t>
            </a:r>
            <a:r>
              <a:rPr lang="en-US" sz="2000" dirty="0"/>
              <a:t>.</a:t>
            </a:r>
          </a:p>
        </p:txBody>
      </p:sp>
      <p:pic>
        <p:nvPicPr>
          <p:cNvPr id="7" name="Content Placeholder 6">
            <a:extLst>
              <a:ext uri="{FF2B5EF4-FFF2-40B4-BE49-F238E27FC236}">
                <a16:creationId xmlns:a16="http://schemas.microsoft.com/office/drawing/2014/main" id="{A3159D15-E8E3-AF96-5716-DEF40BE33594}"/>
              </a:ext>
            </a:extLst>
          </p:cNvPr>
          <p:cNvPicPr>
            <a:picLocks noGrp="1" noChangeAspect="1"/>
          </p:cNvPicPr>
          <p:nvPr>
            <p:ph idx="1"/>
          </p:nvPr>
        </p:nvPicPr>
        <p:blipFill>
          <a:blip r:embed="rId2"/>
          <a:stretch>
            <a:fillRect/>
          </a:stretch>
        </p:blipFill>
        <p:spPr>
          <a:xfrm>
            <a:off x="1549400" y="2578100"/>
            <a:ext cx="4787900" cy="3543300"/>
          </a:xfrm>
        </p:spPr>
      </p:pic>
    </p:spTree>
    <p:extLst>
      <p:ext uri="{BB962C8B-B14F-4D97-AF65-F5344CB8AC3E}">
        <p14:creationId xmlns:p14="http://schemas.microsoft.com/office/powerpoint/2010/main" val="2872398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8A42-6DBE-C5A2-2EDC-B837C8E44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6EC36-50DA-F825-ABA4-DDC06781A1BC}"/>
              </a:ext>
            </a:extLst>
          </p:cNvPr>
          <p:cNvSpPr>
            <a:spLocks noGrp="1"/>
          </p:cNvSpPr>
          <p:nvPr>
            <p:ph type="title"/>
          </p:nvPr>
        </p:nvSpPr>
        <p:spPr>
          <a:xfrm>
            <a:off x="1715293" y="973668"/>
            <a:ext cx="8761413" cy="706964"/>
          </a:xfrm>
        </p:spPr>
        <p:txBody>
          <a:bodyPr/>
          <a:lstStyle/>
          <a:p>
            <a:pPr algn="ctr"/>
            <a:r>
              <a:rPr lang="en-IN" b="1" dirty="0"/>
              <a:t>PAYMENT METHOD VS AGE_CATEGORY</a:t>
            </a:r>
          </a:p>
        </p:txBody>
      </p:sp>
      <p:sp>
        <p:nvSpPr>
          <p:cNvPr id="10" name="TextBox 9">
            <a:extLst>
              <a:ext uri="{FF2B5EF4-FFF2-40B4-BE49-F238E27FC236}">
                <a16:creationId xmlns:a16="http://schemas.microsoft.com/office/drawing/2014/main" id="{2172885E-BB6C-2F8F-26F4-FA900672E8A8}"/>
              </a:ext>
            </a:extLst>
          </p:cNvPr>
          <p:cNvSpPr txBox="1"/>
          <p:nvPr/>
        </p:nvSpPr>
        <p:spPr>
          <a:xfrm>
            <a:off x="7756105" y="3429000"/>
            <a:ext cx="3677264" cy="2554545"/>
          </a:xfrm>
          <a:prstGeom prst="rect">
            <a:avLst/>
          </a:prstGeom>
          <a:noFill/>
        </p:spPr>
        <p:txBody>
          <a:bodyPr wrap="square" rtlCol="0">
            <a:spAutoFit/>
          </a:bodyPr>
          <a:lstStyle/>
          <a:p>
            <a:r>
              <a:rPr lang="en-US" sz="2000" b="1" dirty="0"/>
              <a:t>Cash is the most preferred payment method across all age groups (40K+)</a:t>
            </a:r>
            <a:r>
              <a:rPr lang="en-US" sz="2000" dirty="0"/>
              <a:t>, followed by </a:t>
            </a:r>
            <a:r>
              <a:rPr lang="en-US" sz="2000" b="1" dirty="0"/>
              <a:t>Credit Cards</a:t>
            </a:r>
            <a:r>
              <a:rPr lang="en-US" sz="2000" dirty="0"/>
              <a:t>, while </a:t>
            </a:r>
            <a:r>
              <a:rPr lang="en-US" sz="2000" b="1" dirty="0"/>
              <a:t>Debit Cards</a:t>
            </a:r>
            <a:r>
              <a:rPr lang="en-US" sz="2000" dirty="0"/>
              <a:t> are used the </a:t>
            </a:r>
            <a:r>
              <a:rPr lang="en-US" sz="2000" b="1" dirty="0"/>
              <a:t>least</a:t>
            </a:r>
            <a:r>
              <a:rPr lang="en-US" sz="2000" dirty="0"/>
              <a:t>, showing lower engagement across categories.</a:t>
            </a:r>
            <a:endParaRPr lang="en-IN" sz="2000" dirty="0"/>
          </a:p>
          <a:p>
            <a:r>
              <a:rPr lang="en-IN" sz="2000" dirty="0"/>
              <a:t> </a:t>
            </a:r>
            <a:endParaRPr lang="en-IN" sz="2000" b="1" dirty="0"/>
          </a:p>
        </p:txBody>
      </p:sp>
      <p:pic>
        <p:nvPicPr>
          <p:cNvPr id="6" name="Content Placeholder 5">
            <a:extLst>
              <a:ext uri="{FF2B5EF4-FFF2-40B4-BE49-F238E27FC236}">
                <a16:creationId xmlns:a16="http://schemas.microsoft.com/office/drawing/2014/main" id="{E2735922-EB76-F9AD-23AA-74D2111DCAC2}"/>
              </a:ext>
            </a:extLst>
          </p:cNvPr>
          <p:cNvPicPr>
            <a:picLocks noGrp="1" noChangeAspect="1"/>
          </p:cNvPicPr>
          <p:nvPr>
            <p:ph idx="1"/>
          </p:nvPr>
        </p:nvPicPr>
        <p:blipFill>
          <a:blip r:embed="rId2"/>
          <a:stretch>
            <a:fillRect/>
          </a:stretch>
        </p:blipFill>
        <p:spPr>
          <a:xfrm>
            <a:off x="1270000" y="2514600"/>
            <a:ext cx="5816599" cy="3771900"/>
          </a:xfrm>
        </p:spPr>
      </p:pic>
    </p:spTree>
    <p:extLst>
      <p:ext uri="{BB962C8B-B14F-4D97-AF65-F5344CB8AC3E}">
        <p14:creationId xmlns:p14="http://schemas.microsoft.com/office/powerpoint/2010/main" val="2348749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8E49A1-F514-9031-D0D9-8D773EBD8AA7}"/>
              </a:ext>
            </a:extLst>
          </p:cNvPr>
          <p:cNvSpPr/>
          <p:nvPr/>
        </p:nvSpPr>
        <p:spPr>
          <a:xfrm>
            <a:off x="118187" y="130628"/>
            <a:ext cx="11955625" cy="65967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2679AAED-136A-0CE1-C034-F22C5E4BB76C}"/>
              </a:ext>
            </a:extLst>
          </p:cNvPr>
          <p:cNvSpPr txBox="1">
            <a:spLocks/>
          </p:cNvSpPr>
          <p:nvPr/>
        </p:nvSpPr>
        <p:spPr>
          <a:xfrm>
            <a:off x="1715293" y="229572"/>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b="1" dirty="0">
                <a:solidFill>
                  <a:schemeClr val="accent2">
                    <a:lumMod val="50000"/>
                  </a:schemeClr>
                </a:solidFill>
              </a:rPr>
              <a:t>DATA VISUALIZATION in ‘POWER BI’ </a:t>
            </a:r>
          </a:p>
        </p:txBody>
      </p:sp>
      <p:pic>
        <p:nvPicPr>
          <p:cNvPr id="3" name="Picture 2">
            <a:extLst>
              <a:ext uri="{FF2B5EF4-FFF2-40B4-BE49-F238E27FC236}">
                <a16:creationId xmlns:a16="http://schemas.microsoft.com/office/drawing/2014/main" id="{E4FA1F99-3579-45DA-E138-D68058542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123" y="863599"/>
            <a:ext cx="11307753" cy="5742431"/>
          </a:xfrm>
          <a:prstGeom prst="rect">
            <a:avLst/>
          </a:prstGeom>
        </p:spPr>
      </p:pic>
    </p:spTree>
    <p:extLst>
      <p:ext uri="{BB962C8B-B14F-4D97-AF65-F5344CB8AC3E}">
        <p14:creationId xmlns:p14="http://schemas.microsoft.com/office/powerpoint/2010/main" val="3567540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959DD-395A-5BFB-4D77-21FCF2E4D3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837D7C2-285F-D578-0A9E-638D30D4201A}"/>
              </a:ext>
            </a:extLst>
          </p:cNvPr>
          <p:cNvSpPr/>
          <p:nvPr/>
        </p:nvSpPr>
        <p:spPr>
          <a:xfrm>
            <a:off x="118187" y="163880"/>
            <a:ext cx="11955625" cy="65967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881EC195-8AE0-A55B-5577-1B519AA19C97}"/>
              </a:ext>
            </a:extLst>
          </p:cNvPr>
          <p:cNvSpPr txBox="1">
            <a:spLocks/>
          </p:cNvSpPr>
          <p:nvPr/>
        </p:nvSpPr>
        <p:spPr>
          <a:xfrm>
            <a:off x="1715293" y="229572"/>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b="1" dirty="0">
                <a:solidFill>
                  <a:schemeClr val="accent2">
                    <a:lumMod val="50000"/>
                  </a:schemeClr>
                </a:solidFill>
              </a:rPr>
              <a:t>DATA VISUALIZATION in ‘POWER BI’ </a:t>
            </a:r>
          </a:p>
        </p:txBody>
      </p:sp>
      <p:pic>
        <p:nvPicPr>
          <p:cNvPr id="4" name="Picture 3">
            <a:extLst>
              <a:ext uri="{FF2B5EF4-FFF2-40B4-BE49-F238E27FC236}">
                <a16:creationId xmlns:a16="http://schemas.microsoft.com/office/drawing/2014/main" id="{03D2C5C8-20C5-3040-EFB3-47139D429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781" y="812800"/>
            <a:ext cx="11374437" cy="5817046"/>
          </a:xfrm>
          <a:prstGeom prst="rect">
            <a:avLst/>
          </a:prstGeom>
        </p:spPr>
      </p:pic>
    </p:spTree>
    <p:extLst>
      <p:ext uri="{BB962C8B-B14F-4D97-AF65-F5344CB8AC3E}">
        <p14:creationId xmlns:p14="http://schemas.microsoft.com/office/powerpoint/2010/main" val="3856105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1F61-C4EC-7968-6339-87639B636227}"/>
              </a:ext>
            </a:extLst>
          </p:cNvPr>
          <p:cNvSpPr>
            <a:spLocks noGrp="1"/>
          </p:cNvSpPr>
          <p:nvPr>
            <p:ph type="title"/>
          </p:nvPr>
        </p:nvSpPr>
        <p:spPr/>
        <p:txBody>
          <a:bodyPr/>
          <a:lstStyle/>
          <a:p>
            <a:pPr algn="ctr"/>
            <a:r>
              <a:rPr lang="en-IN" dirty="0"/>
              <a:t>CONCLUSION</a:t>
            </a:r>
          </a:p>
        </p:txBody>
      </p:sp>
      <p:sp>
        <p:nvSpPr>
          <p:cNvPr id="3" name="TextBox 2">
            <a:extLst>
              <a:ext uri="{FF2B5EF4-FFF2-40B4-BE49-F238E27FC236}">
                <a16:creationId xmlns:a16="http://schemas.microsoft.com/office/drawing/2014/main" id="{84C45129-6D16-0FA4-139C-AEA8FD733067}"/>
              </a:ext>
            </a:extLst>
          </p:cNvPr>
          <p:cNvSpPr txBox="1"/>
          <p:nvPr/>
        </p:nvSpPr>
        <p:spPr>
          <a:xfrm>
            <a:off x="1183449" y="2538961"/>
            <a:ext cx="10487608" cy="1323439"/>
          </a:xfrm>
          <a:prstGeom prst="rect">
            <a:avLst/>
          </a:prstGeom>
          <a:noFill/>
        </p:spPr>
        <p:txBody>
          <a:bodyPr wrap="square" rtlCol="0">
            <a:spAutoFit/>
          </a:bodyPr>
          <a:lstStyle/>
          <a:p>
            <a:pPr marL="285750" indent="-285750">
              <a:buFont typeface="Arial" panose="020B0604020202020204" pitchFamily="34" charset="0"/>
              <a:buChar char="•"/>
            </a:pPr>
            <a:r>
              <a:rPr lang="en-IN" sz="1600" b="1" i="1" dirty="0">
                <a:solidFill>
                  <a:schemeClr val="accent1">
                    <a:lumMod val="75000"/>
                  </a:schemeClr>
                </a:solidFill>
              </a:rPr>
              <a:t>Females were more revenue generators than Males</a:t>
            </a:r>
          </a:p>
          <a:p>
            <a:pPr marL="285750" indent="-285750">
              <a:buFont typeface="Arial" panose="020B0604020202020204" pitchFamily="34" charset="0"/>
              <a:buChar char="•"/>
            </a:pPr>
            <a:r>
              <a:rPr lang="en-IN" sz="1600" b="1" i="1" dirty="0">
                <a:solidFill>
                  <a:schemeClr val="accent1">
                    <a:lumMod val="75000"/>
                  </a:schemeClr>
                </a:solidFill>
              </a:rPr>
              <a:t>Clothing was purchased more in both the genders</a:t>
            </a:r>
          </a:p>
          <a:p>
            <a:pPr marL="285750" indent="-285750">
              <a:buFont typeface="Arial" panose="020B0604020202020204" pitchFamily="34" charset="0"/>
              <a:buChar char="•"/>
            </a:pPr>
            <a:r>
              <a:rPr lang="en-IN" sz="1600" b="1" i="1" dirty="0">
                <a:solidFill>
                  <a:schemeClr val="accent1">
                    <a:lumMod val="75000"/>
                  </a:schemeClr>
                </a:solidFill>
              </a:rPr>
              <a:t>Payment method was done highly with cash </a:t>
            </a:r>
          </a:p>
          <a:p>
            <a:pPr marL="285750" indent="-285750">
              <a:buFont typeface="Arial" panose="020B0604020202020204" pitchFamily="34" charset="0"/>
              <a:buChar char="•"/>
            </a:pPr>
            <a:r>
              <a:rPr lang="en-IN" sz="1600" b="1" i="1" dirty="0">
                <a:solidFill>
                  <a:schemeClr val="accent1">
                    <a:lumMod val="75000"/>
                  </a:schemeClr>
                </a:solidFill>
              </a:rPr>
              <a:t>Among all the ten shopping malls ‘Mall of Istanbul’ was more revenue generated</a:t>
            </a:r>
          </a:p>
          <a:p>
            <a:pPr marL="285750" indent="-285750">
              <a:buFont typeface="Arial" panose="020B0604020202020204" pitchFamily="34" charset="0"/>
              <a:buChar char="•"/>
            </a:pPr>
            <a:endParaRPr lang="en-IN" sz="1600" dirty="0"/>
          </a:p>
        </p:txBody>
      </p:sp>
      <p:sp>
        <p:nvSpPr>
          <p:cNvPr id="4" name="TextBox 3">
            <a:extLst>
              <a:ext uri="{FF2B5EF4-FFF2-40B4-BE49-F238E27FC236}">
                <a16:creationId xmlns:a16="http://schemas.microsoft.com/office/drawing/2014/main" id="{B672F7A4-409D-A3F6-9C4B-9985DAB72634}"/>
              </a:ext>
            </a:extLst>
          </p:cNvPr>
          <p:cNvSpPr txBox="1"/>
          <p:nvPr/>
        </p:nvSpPr>
        <p:spPr>
          <a:xfrm>
            <a:off x="1154954" y="3825269"/>
            <a:ext cx="9423918" cy="2893100"/>
          </a:xfrm>
          <a:prstGeom prst="rect">
            <a:avLst/>
          </a:prstGeom>
          <a:noFill/>
        </p:spPr>
        <p:txBody>
          <a:bodyPr wrap="square" rtlCol="0">
            <a:spAutoFit/>
          </a:bodyPr>
          <a:lstStyle/>
          <a:p>
            <a:r>
              <a:rPr lang="en-IN" sz="1400" b="1" dirty="0"/>
              <a:t>The Final take on the conclusion with these Business Insights is </a:t>
            </a:r>
          </a:p>
          <a:p>
            <a:endParaRPr lang="en-IN" sz="1400" dirty="0"/>
          </a:p>
          <a:p>
            <a:pPr marL="285750" indent="-285750">
              <a:buFont typeface="Arial" panose="020B0604020202020204" pitchFamily="34" charset="0"/>
              <a:buChar char="•"/>
            </a:pPr>
            <a:r>
              <a:rPr lang="en-IN" sz="1400" dirty="0"/>
              <a:t>“Need to increase more payment method with Debit Cards by proceeding with more Advertisements and Awareness programs with Customers”</a:t>
            </a:r>
          </a:p>
          <a:p>
            <a:endParaRPr lang="en-IN" sz="1400" dirty="0"/>
          </a:p>
          <a:p>
            <a:pPr marL="285750" indent="-285750">
              <a:buFont typeface="Arial" panose="020B0604020202020204" pitchFamily="34" charset="0"/>
              <a:buChar char="•"/>
            </a:pPr>
            <a:r>
              <a:rPr lang="en-IN" sz="1400" dirty="0"/>
              <a:t>“Need to improve the habit of purchasing books among customers by introducing more stalls with more Genre of books among kids and youths”</a:t>
            </a:r>
          </a:p>
          <a:p>
            <a:endParaRPr lang="en-IN" sz="1400" dirty="0"/>
          </a:p>
          <a:p>
            <a:pPr marL="285750" indent="-285750">
              <a:buFont typeface="Arial" panose="020B0604020202020204" pitchFamily="34" charset="0"/>
              <a:buChar char="•"/>
            </a:pPr>
            <a:r>
              <a:rPr lang="en-IN" sz="1400" dirty="0"/>
              <a:t>“Males were least revenue generators than females, so to increase more number of male customers need to provide more offers on tech category to males”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Investing more to attract males via Campaigns regarding Offers for males will lead to more Revenue from them</a:t>
            </a:r>
          </a:p>
        </p:txBody>
      </p:sp>
    </p:spTree>
    <p:extLst>
      <p:ext uri="{BB962C8B-B14F-4D97-AF65-F5344CB8AC3E}">
        <p14:creationId xmlns:p14="http://schemas.microsoft.com/office/powerpoint/2010/main" val="28705725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351</TotalTime>
  <Words>983</Words>
  <Application>Microsoft Office PowerPoint</Application>
  <PresentationFormat>Widescreen</PresentationFormat>
  <Paragraphs>76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Ion Boardroom</vt:lpstr>
      <vt:lpstr>DATAMITES - INTERNSHIP</vt:lpstr>
      <vt:lpstr>PROJECT OVERVIEW</vt:lpstr>
      <vt:lpstr>ANALYZING THE PROJECT</vt:lpstr>
      <vt:lpstr>DATASET AND TASKS</vt:lpstr>
      <vt:lpstr>PowerPoint Presentation</vt:lpstr>
      <vt:lpstr>DATA PREPROCESSING IN SQL SERVER</vt:lpstr>
      <vt:lpstr>DATA EXPLORATION IN POWER BI</vt:lpstr>
      <vt:lpstr>SHOPPING DISTRIBUTION BY GENDER</vt:lpstr>
      <vt:lpstr>PRODUCT SALES BASED ON GENDER</vt:lpstr>
      <vt:lpstr>REVENUE GENERATION BASED ON GENDER</vt:lpstr>
      <vt:lpstr>REVENUE BY AGE_CATEGORY</vt:lpstr>
      <vt:lpstr>REVENUE BY CATEGORY AND GENDER</vt:lpstr>
      <vt:lpstr>SHOPPING DISTRIBUTION BY AGE_GROUP</vt:lpstr>
      <vt:lpstr>DISTRIBUTION OF PURCHASE CATEGORIES BY AGE_GROUP</vt:lpstr>
      <vt:lpstr>Invoice Count by category and gender</vt:lpstr>
      <vt:lpstr>Distribution of Orders by Payment Method</vt:lpstr>
      <vt:lpstr>PAYMENT METHOD VS AGE_CATEGORY</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Pandiyan</dc:creator>
  <cp:lastModifiedBy>BHAVANASI SRAVANI</cp:lastModifiedBy>
  <cp:revision>14</cp:revision>
  <dcterms:created xsi:type="dcterms:W3CDTF">2025-09-28T17:34:38Z</dcterms:created>
  <dcterms:modified xsi:type="dcterms:W3CDTF">2025-11-10T05:02:35Z</dcterms:modified>
</cp:coreProperties>
</file>